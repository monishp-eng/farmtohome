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2200">
                <a:solidFill>
                  <a:srgbClr val="EA580C"/>
                </a:solidFill>
                <a:latin typeface="Calibri"/>
              </a:rPr>
              <a:t>Project Name:</a:t>
            </a:r>
            <a:r>
              <a:rPr b="1" sz="2200">
                <a:solidFill>
                  <a:srgbClr val="EA580C"/>
                </a:solidFill>
                <a:latin typeface="Calibri"/>
              </a:rPr>
              <a:t>  KisanSetu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4E3B"/>
                </a:solidFill>
                <a:latin typeface="Calibri"/>
              </a:rPr>
              <a:t>Tagline:</a:t>
            </a:r>
            <a:r>
              <a:rPr b="1" sz="1400">
                <a:solidFill>
                  <a:srgbClr val="064E3B"/>
                </a:solidFill>
                <a:latin typeface="Calibri"/>
              </a:rPr>
              <a:t>  2G Voice AI &amp; Direct Farm-to-Consumer Fair Trade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Calibri"/>
              </a:rPr>
              <a:t>Problem ID:</a:t>
            </a:r>
            <a:r>
              <a:rPr b="1" sz="1500">
                <a:solidFill>
                  <a:srgbClr val="0F172A"/>
                </a:solidFill>
                <a:latin typeface="Calibri"/>
              </a:rPr>
              <a:t>  26033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1E293B"/>
                </a:solidFill>
                <a:latin typeface="Calibri"/>
              </a:rPr>
              <a:t>Problem:</a:t>
            </a:r>
            <a:r>
              <a:rPr b="0" sz="1350">
                <a:solidFill>
                  <a:srgbClr val="1E293B"/>
                </a:solidFill>
                <a:latin typeface="Calibri"/>
              </a:rPr>
              <a:t>  "Middlemen reduce farmers' earnings &amp; hike consumer prices"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0F172A"/>
                </a:solidFill>
                <a:latin typeface="Calibri"/>
              </a:rPr>
              <a:t>Theme:</a:t>
            </a:r>
            <a:r>
              <a:rPr b="1" sz="1350">
                <a:solidFill>
                  <a:srgbClr val="0F172A"/>
                </a:solidFill>
                <a:latin typeface="Calibri"/>
              </a:rPr>
              <a:t>  Agriculture, FoodTech &amp; Rural Development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64E3B"/>
                </a:solidFill>
                <a:latin typeface="Calibri"/>
              </a:rPr>
              <a:t>Category:</a:t>
            </a:r>
            <a:r>
              <a:rPr b="1" sz="1450">
                <a:solidFill>
                  <a:srgbClr val="064E3B"/>
                </a:solidFill>
                <a:latin typeface="Calibri"/>
              </a:rPr>
              <a:t>  Software  |  Team: Team KisanSetu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858000" y="1783080"/>
            <a:ext cx="4663440" cy="1325880"/>
          </a:xfrm>
          <a:prstGeom prst="roundRect">
            <a:avLst/>
          </a:prstGeom>
          <a:solidFill>
            <a:srgbClr val="065F46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65%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1FAE5"/>
                </a:solidFill>
                <a:latin typeface="Calibri"/>
              </a:defRPr>
            </a:pPr>
            <a:r>
              <a:t>Lost to Middlemen Commissions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246120"/>
            <a:ext cx="4663440" cy="1325880"/>
          </a:xfrm>
          <a:prstGeom prst="roundRect">
            <a:avLst/>
          </a:prstGeom>
          <a:solidFill>
            <a:srgbClr val="065F46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EA580C"/>
                </a:solidFill>
                <a:latin typeface="Calibri"/>
              </a:defRPr>
            </a:pPr>
            <a:r>
              <a:t>120 Million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1FAE5"/>
                </a:solidFill>
                <a:latin typeface="Calibri"/>
              </a:defRPr>
            </a:pPr>
            <a:r>
              <a:t>Farmers with Basic 2G Phones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709160"/>
            <a:ext cx="4663440" cy="1325880"/>
          </a:xfrm>
          <a:prstGeom prst="roundRect">
            <a:avLst/>
          </a:prstGeom>
          <a:solidFill>
            <a:srgbClr val="065F4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98%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1FAE5"/>
                </a:solidFill>
                <a:latin typeface="Calibri"/>
              </a:defRPr>
            </a:pPr>
            <a:r>
              <a:t>Direct Payout to Farmer Bank A/C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PROPOSED SOLUTION — HOW KISANSETU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88720"/>
            <a:ext cx="361188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280160"/>
            <a:ext cx="3429000" cy="38404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2G Voice AI Helpline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21792" y="1755648"/>
            <a:ext cx="3291840" cy="182880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Toll-free IVR for any ₹800 keypad phone (Zero internet/4G needed)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Speaks natural Tamil, Hindi &amp; English (Sarvam AI Voice)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Instant SMS confirmation with official listing ID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251960" y="1188720"/>
            <a:ext cx="361188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343400" y="1280160"/>
            <a:ext cx="34290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Direct Freshness Match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416552" y="1755648"/>
            <a:ext cx="3291840" cy="182880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Zero warehouse delays: Produce plucked fresh upon order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Tracks harvest date &amp; shelf-life countdown (e.g. 4 days fresh)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Pairs nearest consumers &amp; local restaurants (&lt;50 km)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046720" y="1188720"/>
            <a:ext cx="361188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8138160" y="1280160"/>
            <a:ext cx="34290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Fair Price &amp; Direct Delivery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211312" y="1755648"/>
            <a:ext cx="3291840" cy="182880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Live APMC Mandi modal price &amp; Govt MSP floor check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2-Opt shared vehicle routing delivers in 24 hours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98% direct payout to farmer bank, 2% platform fee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57200" y="3840480"/>
            <a:ext cx="11247120" cy="2377440"/>
          </a:xfrm>
          <a:prstGeom prst="roundRect">
            <a:avLst/>
          </a:prstGeom>
          <a:solidFill>
            <a:srgbClr val="F2FDF5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3337560" y="3931920"/>
            <a:ext cx="5486400" cy="329184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END-TO-END DIRECT OPERATIONAL FLOW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94360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667512" y="4443984"/>
            <a:ext cx="1728216" cy="347472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1: 2G Call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85800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Farmer dials toll-free &amp;</a:t>
            </a:r>
            <a:br/>
            <a:r>
              <a:t>speaks crop, qty &amp; price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2514600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2825496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2898648" y="4443984"/>
            <a:ext cx="1728216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2: AI Voice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2916936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Sarvam AI extracts data &amp;</a:t>
            </a:r>
            <a:br/>
            <a:r>
              <a:t>calculates freshness days</a:t>
            </a:r>
          </a:p>
        </p:txBody>
      </p:sp>
      <p:sp>
        <p:nvSpPr>
          <p:cNvPr id="15380" name="Right Arrow 15379"/>
          <p:cNvSpPr/>
          <p:nvPr/>
        </p:nvSpPr>
        <p:spPr>
          <a:xfrm>
            <a:off x="4745736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ounded Rectangle 15380"/>
          <p:cNvSpPr/>
          <p:nvPr/>
        </p:nvSpPr>
        <p:spPr>
          <a:xfrm>
            <a:off x="5056632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5129784" y="4443984"/>
            <a:ext cx="1728216" cy="347472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3: Mandi Guard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5148072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APMC price check ensures</a:t>
            </a:r>
            <a:br/>
            <a:r>
              <a:t>no distress underpricing</a:t>
            </a:r>
          </a:p>
        </p:txBody>
      </p:sp>
      <p:sp>
        <p:nvSpPr>
          <p:cNvPr id="15384" name="Right Arrow 15383"/>
          <p:cNvSpPr/>
          <p:nvPr/>
        </p:nvSpPr>
        <p:spPr>
          <a:xfrm>
            <a:off x="6976872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7287768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7360920" y="4443984"/>
            <a:ext cx="1728216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4: Local Match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7379208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Matches nearest consumer</a:t>
            </a:r>
            <a:br/>
            <a:r>
              <a:t>or bulk restaurant order</a:t>
            </a:r>
          </a:p>
        </p:txBody>
      </p:sp>
      <p:sp>
        <p:nvSpPr>
          <p:cNvPr id="15388" name="Right Arrow 15387"/>
          <p:cNvSpPr/>
          <p:nvPr/>
        </p:nvSpPr>
        <p:spPr>
          <a:xfrm>
            <a:off x="9208008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9518904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9592056" y="4443984"/>
            <a:ext cx="1728216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5: Direct Payout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9610344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Farm gate pickup &amp;</a:t>
            </a:r>
            <a:br/>
            <a:r>
              <a:t>98% direct bank transfer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6217920" cy="4800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6035040" cy="347472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MODULAR MICROSERVICES ARCHITECTURE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719072"/>
            <a:ext cx="5943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685800" y="1792224"/>
            <a:ext cx="5760720" cy="29260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Voice &amp; Web Ingestion Layer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77240" y="2121408"/>
            <a:ext cx="55778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Twilio PSTN Gateway: Toll-free 2G IVR for ₹800 feature phones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Sarvam AI Bulbul/Saaras v3: Voice STT/TTS in Tamil &amp; Hindi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React 18 + Tailwind: Responsive buyer &amp; wholesale portal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60" y="3090672"/>
            <a:ext cx="5943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85800" y="3163824"/>
            <a:ext cx="57607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Price Guard &amp; Matching Core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77240" y="3493008"/>
            <a:ext cx="55778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Node.js/Express REST API: JWT auth &amp; role management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APMC Mandi Guard: Real-time price cross-check against MSP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Freshness Matcher: Proximity &amp; shelf-life ranking engine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4462272"/>
            <a:ext cx="5943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85800" y="4535424"/>
            <a:ext cx="576072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Route AI &amp; Direct Settlement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77240" y="4864608"/>
            <a:ext cx="55778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Python Flask: 2-Opt TSP algorithm for shared farm pickup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Leaflet + OSRM Maps: Real road geometry &amp; live driver GPS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T+0 Escrow Engine: Automatic bank payout on delivery POD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858000" y="1188720"/>
            <a:ext cx="4846320" cy="48006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949440" y="1280160"/>
            <a:ext cx="4663440" cy="347472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DIRECT EXECUTION PIPELINE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040880" y="1737360"/>
            <a:ext cx="448056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Farmer calls toll-free 2G IVR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040880" y="2432304"/>
            <a:ext cx="44805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Sarvam AI converts speech to listing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040880" y="3127248"/>
            <a:ext cx="4480560" cy="50292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Mandi rates checked to prevent underpricing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040880" y="3822191"/>
            <a:ext cx="448056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Nearest buyer matched within 50 km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040880" y="4517136"/>
            <a:ext cx="448056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2-Opt driver dispatched to farm gate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040880" y="5212079"/>
            <a:ext cx="4480560" cy="5029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 98% money transferred to farmer bank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6080760"/>
            <a:ext cx="11247120" cy="2743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1FAE5"/>
                </a:solidFill>
                <a:latin typeface="Calibri"/>
              </a:defRPr>
            </a:pPr>
            <a:r>
              <a:t>Stack: React 18  ·  Node.js Express  ·  Python Flask  ·  Scikit-Learn  ·  Leaflet / OSRM  ·  SQLite  ·  Twilio  ·  Sarvam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100" b="1">
                <a:solidFill>
                  <a:srgbClr val="064E3B"/>
                </a:solidFill>
                <a:latin typeface="Times New Roman"/>
              </a:defRPr>
            </a:pPr>
            <a:r>
              <a:t>FEASIBILITY, RISK MITIGATION &amp; PILOT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48640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61872"/>
            <a:ext cx="5303520" cy="310896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FEASIBILITY &amp; RISK MITIGATION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591056"/>
            <a:ext cx="5257800" cy="1234440"/>
          </a:xfrm>
          <a:prstGeom prst="rect">
            <a:avLst/>
          </a:prstGeom>
          <a:noFill/>
        </p:spPr>
        <p:txBody>
          <a:bodyPr wrap="square" tIns="9144" lIns="9144" r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4E3B"/>
                </a:solidFill>
                <a:latin typeface="Times New Roman"/>
              </a:defRPr>
            </a:pPr>
            <a:r>
              <a:t>⚙️ TECHNICALLY FEASIBLE</a:t>
            </a:r>
          </a:p>
          <a:p>
            <a:pPr>
              <a:spcAft>
                <a:spcPts val="150"/>
              </a:spcAft>
              <a:defRPr sz="950">
                <a:solidFill>
                  <a:srgbClr val="1E293B"/>
                </a:solidFill>
                <a:latin typeface="Times New Roman"/>
              </a:defRPr>
            </a:pPr>
            <a:r>
              <a:t>• Zero hardware barrier — Works on basic ₹800 feature phones via 2G IVR</a:t>
            </a:r>
          </a:p>
          <a:p>
            <a:pPr>
              <a:spcAft>
                <a:spcPts val="150"/>
              </a:spcAft>
              <a:defRPr sz="950">
                <a:solidFill>
                  <a:srgbClr val="1E293B"/>
                </a:solidFill>
                <a:latin typeface="Times New Roman"/>
              </a:defRPr>
            </a:pPr>
            <a:r>
              <a:t>• Low compute — Lightweight Node.js/Python services; &lt;2.5s latency</a:t>
            </a:r>
          </a:p>
          <a:p>
            <a:pPr>
              <a:spcAft>
                <a:spcPts val="150"/>
              </a:spcAft>
              <a:defRPr sz="950">
                <a:solidFill>
                  <a:srgbClr val="1E293B"/>
                </a:solidFill>
                <a:latin typeface="Times New Roman"/>
              </a:defRPr>
            </a:pPr>
            <a:r>
              <a:t>• Open-source stack — React + PostgreSQL/SQLite + Leaflet + OSRM</a:t>
            </a:r>
          </a:p>
          <a:p>
            <a:pPr>
              <a:spcAft>
                <a:spcPts val="150"/>
              </a:spcAft>
              <a:defRPr sz="950">
                <a:solidFill>
                  <a:srgbClr val="1E293B"/>
                </a:solidFill>
                <a:latin typeface="Times New Roman"/>
              </a:defRPr>
            </a:pPr>
            <a:r>
              <a:t>• Scalable logistics — 2-Opt routing consolidates small farm pickups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2852928"/>
            <a:ext cx="5257800" cy="548640"/>
          </a:xfrm>
          <a:prstGeom prst="rect">
            <a:avLst/>
          </a:prstGeom>
          <a:noFill/>
        </p:spPr>
        <p:txBody>
          <a:bodyPr wrap="square" tIns="9144" lIns="9144" r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2410C"/>
                </a:solidFill>
                <a:latin typeface="Times New Roman"/>
              </a:defRPr>
            </a:pPr>
            <a:r>
              <a:t>💰 ECONOMICALLY VIABLE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t>• 2% transaction fee → covers core platform + communication + mapping costs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340156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Times New Roman"/>
              </a:defRPr>
            </a:pPr>
            <a:r>
              <a:t>🛡️ KEY RISKS → ENGINEERING MITIGATION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566928" y="3694176"/>
          <a:ext cx="5257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017520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Our Mitigation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🎙️ Noise &amp; rural dialects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IVR + DTMF + SMS fallback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🥬 Produce spoilage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Shelf-life engine + 5–15% flash discounts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🏦 False listings / bank errors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Farm-gate grading + passbook OCR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🚚 Small-lot transport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2-Opt clustering within 25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6" name="Rounded Rectangle 17415"/>
          <p:cNvSpPr/>
          <p:nvPr/>
        </p:nvSpPr>
        <p:spPr>
          <a:xfrm>
            <a:off x="6126480" y="1188720"/>
            <a:ext cx="5577840" cy="4892040"/>
          </a:xfrm>
          <a:prstGeom prst="roundRect">
            <a:avLst/>
          </a:prstGeom>
          <a:solidFill>
            <a:srgbClr val="F2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217920" y="1261872"/>
            <a:ext cx="5394960" cy="310896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PILOT → SCALE ROADMAP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63640" y="1627632"/>
            <a:ext cx="530352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355080" y="1682496"/>
            <a:ext cx="51206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Times New Roman"/>
              </a:defRPr>
            </a:pPr>
            <a:r>
              <a:t>🟢 PHASE 1 : PROTOTYPE — DONE (Grand Finale Ready)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55080" y="1956816"/>
            <a:ext cx="5120640" cy="896112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✓ 2G IVR + Sarvam AI        ✓ 2-Opt Logistics Optimization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✓ APMC Price Verification    ✓ Live Leaflet GIS Tracking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✓ Direct Marketplace         ✓ T+0 Digital Escrow Settlement</a:t>
            </a:r>
          </a:p>
        </p:txBody>
      </p:sp>
      <p:sp>
        <p:nvSpPr>
          <p:cNvPr id="17421" name="Down Arrow 17420"/>
          <p:cNvSpPr/>
          <p:nvPr/>
        </p:nvSpPr>
        <p:spPr>
          <a:xfrm>
            <a:off x="8823960" y="2944368"/>
            <a:ext cx="146304" cy="164592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263640" y="3127248"/>
            <a:ext cx="530352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355080" y="3182112"/>
            <a:ext cx="512064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Times New Roman"/>
              </a:defRPr>
            </a:pPr>
            <a:r>
              <a:t>🔵 PHASE 2 : DISTRICT PILOT (Months 1–4)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55080" y="3456432"/>
            <a:ext cx="5120640" cy="868680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• 500 farmers &amp; 3 FPOs in Salem + Nashik vegetable clusters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• 10 Tata Ace owner-drivers onboarded for shared transport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• Target: 2,000 direct consumer &amp; bulk restaurant orders / month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8823960" y="4407408"/>
            <a:ext cx="146304" cy="164592"/>
          </a:xfrm>
          <a:prstGeom prst="down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263640" y="4590288"/>
            <a:ext cx="53035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355080" y="4645152"/>
            <a:ext cx="5120640" cy="256032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Times New Roman"/>
              </a:defRPr>
            </a:pPr>
            <a:r>
              <a:t>🟠 PHASE 3 : STATE FEDERATION (Months 5–12)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55080" y="4919472"/>
            <a:ext cx="5120640" cy="960120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• Onboard 50+ FPOs across 5 agricultural states (TN, MH, AP, KA, PB)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• Institutional buyers: Canteen chains, hostels, and kirana networks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  <a:latin typeface="Times New Roman"/>
              </a:defRPr>
            </a:pPr>
            <a:r>
              <a:t>• Financial Target: ₹10 Crore / month Gross Merchandise Value (GMV)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QUANTIFIABLE IMPACT &amp; SOCIAL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534924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💰 1. Direct Farmer Income (+50%)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98% direct payment (vs 18–25% in traditional mandis)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+45% to +60% net profit increase per crop cycle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Zero distress selling with real-time MSP price floor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Same-day direct bank settlement upon delivery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80160"/>
            <a:ext cx="534924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🛒 2. Consumer Savings (15–20%)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15–20% cheaper than supermarkets and quick-commerce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Harvest-to-doorstep in 24 hours (Maximum nutrition)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Bulk wholesale discounts (5–15%) for restaurants &amp; hostels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100% price transparency against APMC Mandi rates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3767328"/>
            <a:ext cx="5349240" cy="384048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🌿 3. Food Waste Cut (30% ➔ &lt;8%)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Cuts transit delay from 5 days to under 24 hours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28–35% fuel savings from shared mini-truck direct routes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Zero empty return truck trips with dynamic dispatch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Significant carbon footprint reduction per tonne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67328"/>
            <a:ext cx="5349240" cy="38404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📱 4. 100% Rural Digital Inclusion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5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Works on ₹800 keypad phones — Zero internet needed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Full voice parity in Tamil, Hindi &amp; English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AI Crop Doctor: Instant plant diagnosis for smallholders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Empowers women farmers &amp; Self-Help Groups (SHGs)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RESEARCH BENCHMARKS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534924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1. Govt Agricultural Data Sources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Agmarknet (Ministry of Agriculture): Daily APMC mandi modal price datasets across 3,000+ wholesale markets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CACP &amp; e-NAM: Minimum Support Price (MSP) baseline formulas and digital agriculture public infrastructure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80160"/>
            <a:ext cx="534924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2. Post-Harvest &amp; Supply Chain Studies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ICAR-CIPHET (2022): Assessment of Post-Harvest Losses — 15–30% food spoilage due to 5-tier mandi delays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NITI Aayog (2020): 75–85% price markups extracted by commission agents &amp; middlemen in wholesale chains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3767328"/>
            <a:ext cx="534924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3. Engineering &amp; Algorithm Foundations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Lin-Kernighan 2-Opt Algorithm: Proven heuristic for vehicle routing optimization and fuel reduction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OpenStreetMap &amp; OSRM Engine: Real road geometry matrix computation for farm-to-fork logistics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67328"/>
            <a:ext cx="5349240" cy="38404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4. National Mission Alignment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5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Digital Agriculture Mission (DAM 2024–25): Promoting inclusive AI tools for smallholder Indian farmers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PM Kisan Sampada Yojana: Supporting farm-gate preservation, cold-chain resilience &amp; direct market access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