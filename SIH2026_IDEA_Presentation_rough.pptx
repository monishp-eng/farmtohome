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1755" y="1783940"/>
            <a:ext cx="6533136" cy="4005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400">
                <a:solidFill>
                  <a:srgbClr val="0F172A"/>
                </a:solidFill>
                <a:latin typeface="Calibri"/>
              </a:defRPr>
            </a:pPr>
            <a:r>
              <a:t>Problem Statement ID - 26033</a:t>
            </a:r>
            <a:endParaRPr lang="en-US" dirty="0"/>
          </a:p>
          <a:p>
            <a:pPr>
              <a:defRPr b="1" sz="1300">
                <a:solidFill>
                  <a:srgbClr val="064E3B"/>
                </a:solidFill>
                <a:latin typeface="Calibri"/>
              </a:defRPr>
            </a:pPr>
            <a:r>
              <a:t>Problem Statement Title - Multiple intermediaries reduce farmers earnings and increase consumer prices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Theme - Agriculture, FoodTech &amp; Rural Development   |   PS Category - Software</a:t>
            </a:r>
          </a:p>
          <a:p>
            <a:pPr>
              <a:defRPr b="1" sz="1300">
                <a:solidFill>
                  <a:srgbClr val="F59E0B"/>
                </a:solidFill>
                <a:latin typeface="Calibri"/>
              </a:defRPr>
            </a:pPr>
            <a:r>
              <a:t>Project: KisanSetu — Direct Farm-to-Fork 2G/Voice Fair Trade &amp; 2-Opt Logistics Platform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458" y="-236522"/>
            <a:ext cx="10972800" cy="1143000"/>
          </a:xfrm>
        </p:spPr>
        <p:txBody>
          <a:bodyPr/>
          <a:lstStyle/>
          <a:p>
            <a:pPr>
              <a:defRPr b="1" sz="2000">
                <a:solidFill>
                  <a:srgbClr val="064E3B"/>
                </a:solidFill>
                <a:latin typeface="Arial"/>
              </a:defRPr>
            </a:pPr>
            <a:r>
              <a:t>PROPOSED SOLUTION: KisanSetu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9773" y="1187596"/>
            <a:ext cx="10607040" cy="471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b="1" sz="1400">
                <a:solidFill>
                  <a:srgbClr val="064E3B"/>
                </a:solidFill>
                <a:latin typeface="Calibri"/>
              </a:defRPr>
            </a:pPr>
            <a:r>
              <a:t>KisanSetu: Autonomous 2G/Voice Direct Farm-to-Consumer &amp; B2B Trade Network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9184" y="178308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Oval 15363"/>
          <p:cNvSpPr/>
          <p:nvPr/>
        </p:nvSpPr>
        <p:spPr>
          <a:xfrm>
            <a:off x="493776" y="194767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969264" y="2037773"/>
            <a:ext cx="281635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1200">
                <a:latin typeface="Calibri"/>
              </a:defRPr>
            </a:pPr>
            <a:r>
              <a:t>1. Zero-Internet 2G Voice/SMS Gateway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85216" y="2532888"/>
            <a:ext cx="3127248" cy="816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10-Digit Missed-Call Gateway (+91-80-6900-5472) for instant zero-cost listing.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Templated SMS parser (SELL &lt;CROP&gt; &lt;QTY&gt; &lt;PRICE&gt; &lt;VILLAGE&gt;) in Hindi/Tamil/English.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Dual-mode Voice AI (Whisper + Sarvam) for non-literate dial-in farmers.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05656" y="178308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Oval 15367"/>
          <p:cNvSpPr/>
          <p:nvPr/>
        </p:nvSpPr>
        <p:spPr>
          <a:xfrm>
            <a:off x="4270248" y="1947672"/>
            <a:ext cx="365760" cy="36576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745736" y="2037772"/>
            <a:ext cx="281635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1200">
                <a:latin typeface="Calibri"/>
              </a:defRPr>
            </a:pPr>
            <a:r>
              <a:t>2. Anti-Distress Pricing &amp; Dual Marketplace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61688" y="2532888"/>
            <a:ext cx="3127248" cy="1269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Real-time APMC Mandi Modal &amp; MSP cross-check prevents distress underpricing.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Dual Buyer Personas: Consumer retail baskets vs B2B Wholesale (MOQ &gt;=50kg, 5-15% bulk off).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Fair Trade Payout: 98% paid directly to farmers with 2% transparent fee.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7882128" y="178308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Oval 15371"/>
          <p:cNvSpPr/>
          <p:nvPr/>
        </p:nvSpPr>
        <p:spPr>
          <a:xfrm>
            <a:off x="8046720" y="1947672"/>
            <a:ext cx="365760" cy="36576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522208" y="2037772"/>
            <a:ext cx="281635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1200">
                <a:latin typeface="Calibri"/>
              </a:defRPr>
            </a:pPr>
            <a:r>
              <a:t>3. 2-Opt Optimized Direct Logistics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138160" y="2532888"/>
            <a:ext cx="3127248" cy="816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2-Opt Traveling Salesperson (TSP) algorithm cuts driver mileage by 28-35%.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Farm-to-fork transit compressed from 4-6 days down to 24-36 hours.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5-Stage Mirrored Order Lifecycle (Placed -&gt; Confirmed -&gt; In Transit -&gt; Delivered).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29184" y="4370832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b="1" sz="1000">
                <a:latin typeface="Calibri"/>
              </a:defRPr>
            </a:pPr>
            <a:r>
              <a:t>END-TO-END OPERATIONAL PIPELINE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29184" y="4736592"/>
            <a:ext cx="1997049" cy="77724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 w="12700">
            <a:solidFill>
              <a:srgbClr val="90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>
              <a:defRPr sz="900" b="1"/>
            </a:pPr>
            <a:r>
              <a:t>1. Farmer (2G Call/SMS)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2326233" y="4736592"/>
            <a:ext cx="384048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Arial"/>
              </a:rPr>
              <a:t>→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2710281" y="4736592"/>
            <a:ext cx="1997049" cy="77724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 w="12700">
            <a:solidFill>
              <a:srgbClr val="90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>
              <a:defRPr sz="900" b="1"/>
            </a:pPr>
            <a:r>
              <a:t>2. NLP &amp; Mandi Price Engine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4707331" y="4736592"/>
            <a:ext cx="384048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Arial"/>
              </a:rPr>
              <a:t>→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091379" y="4736592"/>
            <a:ext cx="1997049" cy="77724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 w="12700">
            <a:solidFill>
              <a:srgbClr val="90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>
              <a:defRPr sz="900" b="1"/>
            </a:pPr>
            <a:r>
              <a:t>3. B2C &amp; B2B Marketplace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7088428" y="4736592"/>
            <a:ext cx="384048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Arial"/>
              </a:rPr>
              <a:t>→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7472476" y="4736592"/>
            <a:ext cx="1997049" cy="77724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 w="12700">
            <a:solidFill>
              <a:srgbClr val="90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>
              <a:defRPr sz="900" b="1"/>
            </a:pPr>
            <a:r>
              <a:t>4. 2-Opt Clustered Dispatch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9469526" y="4736592"/>
            <a:ext cx="384048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Arial"/>
              </a:rPr>
              <a:t>→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9853574" y="4736592"/>
            <a:ext cx="1997049" cy="77724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 w="12700">
            <a:solidFill>
              <a:srgbClr val="90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>
              <a:defRPr sz="900" b="1"/>
            </a:pPr>
            <a:r>
              <a:t>5. 98% Direct Pay Settlement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64E3B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EC82EF-7F94-8196-80B1-FC19B7A3D7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51" b="9329"/>
          <a:stretch>
            <a:fillRect/>
          </a:stretch>
        </p:blipFill>
        <p:spPr>
          <a:xfrm>
            <a:off x="2020697" y="944726"/>
            <a:ext cx="8150603" cy="5410036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4892040" cy="2057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TIER 1: Multimodal Ingestion &amp; Inclusivity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GSM/PSTN Missed Call &amp; SMS Gateway: +91-80-6900-5472 for zero-internet 2G phones.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Multilingual NLP Parser: Regex &amp; entity extraction (SELL &lt;CROP&gt; &lt;QTY&gt; &lt;PRICE&gt; &lt;VILLAGE&gt;).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React 18 + Tailwind Responsive Web Portal for urban consumers and bulk retailers.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Web Speech API Voice Interface: Multilingual Kisan Crop Doctor in Tamil/Hindi/English.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669280" y="1051560"/>
            <a:ext cx="4892040" cy="2057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TIER 2: Core Transaction &amp; Price Engine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Express.js REST API Server: JWT Auth with strict 3-Tier Scoped RBAC.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APMC Price Benchmark Service: Normalizes live Mandi Modal &amp; MSP rates to ₹/kg.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Anti-Underpricing Protection: Automated warning &amp; fair-price recommendation at listing.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Mirrored 5-Stage State Machine: Placed -&gt; Confirmed -&gt; Dispatched -&gt; In Transit -&gt; Delivered.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291840"/>
            <a:ext cx="4892040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TIER 3: AI &amp; Operations Research Microservices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Python Flask Microservice (Port 5001): Fast ML inference &amp; route optimization.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Random Forest Demand Regressor: 6-month crop forecast factoring rainfall &amp; festivals.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2-Opt TSP Route Optimizer: Haversine distance matrix minimizing total delivery mileage.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Kisan Crop Pathology: Rule-based &amp; LLM plant diagnosis with IPM organic remedies.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669280" y="3291840"/>
            <a:ext cx="489204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TIER 4: Data Persistence &amp; GIS Layer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SQLite / PostgreSQL Database: ACID transactions for 98% direct farmer payouts.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OpenStreetMap Leaflet GIS: Real-time driver GPS waypoints &amp; route polylines.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Two-Way SMS Dispatcher: Instant Kisan Alerts on order placement &amp; driver arrival.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Audit &amp; Analytics Ledger: Live GMV, 2% platform fee &amp; driver earnings ledger.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48640" y="5440680"/>
            <a:ext cx="10058400" cy="3200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Tech Stack: React 18 • TailwindCSS • Node.js / Express • Python Flask • Scikit-Learn • Leaflet GIS • SQLite / PostgreSQL • GSM SMS/IVR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64E3B"/>
                </a:solidFill>
                <a:latin typeface="Arial"/>
              </a:defRPr>
            </a:pPr>
            <a:r>
              <a:t>FEASIBILITY, RISK MITIGATION &amp; PILOT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234440"/>
            <a:ext cx="3639312" cy="23317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493776" y="139903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969264" y="1489132"/>
            <a:ext cx="281635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1200"/>
            </a:pPr>
            <a:r>
              <a:t>1. 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9600" y="1886796"/>
            <a:ext cx="3127248" cy="1005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Operates over standard 2G GSM cellular networks on ₹1,200 feature phones (JioBharat / Nokia 105).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Low compute footprint: Lightweight Express REST + Python microservices run on standard cloud servers.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Fully open-source foundation (React, Python, SQLite, Leaflet) eliminates recurring enterprise licensing costs.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05656" y="1234440"/>
            <a:ext cx="3639312" cy="233172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Oval 17414"/>
          <p:cNvSpPr/>
          <p:nvPr/>
        </p:nvSpPr>
        <p:spPr>
          <a:xfrm>
            <a:off x="4270248" y="1399032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45736" y="1489132"/>
            <a:ext cx="281635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1200"/>
            </a:pPr>
            <a:r>
              <a:t>2. Real Challenges &amp; Edge Cases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61688" y="1903857"/>
            <a:ext cx="3127248" cy="13050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endParaRPr lang="en-US" sz="1300" dirty="0">
              <a:solidFill>
                <a:srgbClr val="2B2B2B"/>
              </a:solidFill>
              <a:latin typeface="Arial"/>
            </a:endParaRP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Acoustic Noise &amp; Dialects: Background farm noise can degrade raw voice recognition.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Listing Authenticity: Risk of spurious or phantom produce listings.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Rural Aggregation: Small farmers with 20-50kg lots face uneconomic solo transport.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882128" y="1234440"/>
            <a:ext cx="3639312" cy="23317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8046720" y="1399032"/>
            <a:ext cx="365760" cy="36576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522208" y="1489132"/>
            <a:ext cx="281635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1200"/>
            </a:pPr>
            <a:r>
              <a:t>3. Engineering Mitigations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78368" y="1886796"/>
            <a:ext cx="2982124" cy="1515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Structured SMS syntax fallback (SELL CROP QTY PRICE) + DTMF keypad backup.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OTP mobile verification + driver physical quality inspection at farm gate.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2-Opt route clustering groups farmers within a 25km radius into shared 1-tonne pickups.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986784" y="2217420"/>
            <a:ext cx="100584" cy="3657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Arial"/>
              </a:rPr>
              <a:t>→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763256" y="2217420"/>
            <a:ext cx="100584" cy="3657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Arial"/>
              </a:rPr>
              <a:t>→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29184" y="3977639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b="1" sz="1000"/>
            </a:pPr>
            <a:r>
              <a:t>PHASED COMMERCIAL &amp; OPERATIONAL ROADMAP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29184" y="4389119"/>
            <a:ext cx="3590544" cy="14173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512064" y="4571999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014984" y="4662323"/>
            <a:ext cx="272186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900"/>
            </a:pPr>
            <a:r>
              <a:t>Phase 1: Working Prototype (Done)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48640" y="5138927"/>
            <a:ext cx="31516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50"/>
            </a:pPr>
            <a:r>
              <a:t>Full 2G Gateway, Mandi Price Engine, B2C/B2B Cart &amp; 2-Opt TSP live in testbed.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919728" y="4389119"/>
            <a:ext cx="384048" cy="141732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Arial"/>
              </a:rPr>
              <a:t>→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303776" y="4389119"/>
            <a:ext cx="3590544" cy="14173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Oval 17430"/>
          <p:cNvSpPr/>
          <p:nvPr/>
        </p:nvSpPr>
        <p:spPr>
          <a:xfrm>
            <a:off x="4486656" y="4571999"/>
            <a:ext cx="384048" cy="38404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989576" y="4662323"/>
            <a:ext cx="272186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900"/>
            </a:pPr>
            <a:r>
              <a:t>Phase 2: District Pilot (M1-M4)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523232" y="5138927"/>
            <a:ext cx="31516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50"/>
            </a:pPr>
            <a:r>
              <a:t>Pilot with 500 farmers &amp; 3 FPOs in Salem / Nashik vegetable belts.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894320" y="4389119"/>
            <a:ext cx="384048" cy="141732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Arial"/>
              </a:rPr>
              <a:t>→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278368" y="4389119"/>
            <a:ext cx="3590544" cy="14173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Oval 17435"/>
          <p:cNvSpPr/>
          <p:nvPr/>
        </p:nvSpPr>
        <p:spPr>
          <a:xfrm>
            <a:off x="8461248" y="4571999"/>
            <a:ext cx="384048" cy="38404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964168" y="4662323"/>
            <a:ext cx="272186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b="1" sz="900"/>
            </a:pPr>
            <a:r>
              <a:t>Phase 3: State Federation (M5-M12)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497824" y="5138927"/>
            <a:ext cx="31516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50"/>
            </a:pPr>
            <a:r>
              <a:t>Onboarding 50+ FPOs, Kirana B2B networks &amp; cold-chain transport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64E3B"/>
                </a:solidFill>
                <a:latin typeface="Arial"/>
              </a:defRPr>
            </a:pPr>
            <a:r>
              <a:t>QUANTIFIABLE IMPACT &amp; SOCIO-ECONOMIC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4892040" cy="2057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🌾 Economic Impact (Direct Farmer Income)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98% Direct Farmer Realization: Up from 18-25% in traditional 5-tier mandi chains.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+45% to +60% Net Profit per harvest cycle by eliminating broker commissions.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Zero Distress Selling: Instant Mandi/MSP price guidance at point of listing.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Immediate Settlement: T+0 digital escrow payout upon confirmed delivery.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669280" y="1051560"/>
            <a:ext cx="4892040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🥦 Consumer &amp; Retailer Savings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15% to 20% Cheaper than supermarket MRP and quick-commerce dark stores.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Harvest-to-Table in 24-36 Hours: Peak nutritional value &amp; pesticide traceability.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Wholesale B2B Tiering: Kirana stores get 5-15% volume discounts on 50kg+ lots.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Flexible Standing Contracts: Weekly recurring deliveries for restaurants.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291840"/>
            <a:ext cx="4892040" cy="2057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🌱 Environmental &amp; Post-Harvest Waste Reduction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Spoilage Slashed: Post-harvest loss cut from 30%+ down to &lt;8% via direct pull.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28% to 35% Fuel Savings: 2-Opt TSP routing consolidates multi-pickup paths.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Reduced Carbon Footprint: Eliminates empty return truck trips across districts.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Eco-Packaging: Encourages reusable crate pooling between farms and hubs.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669280" y="3291840"/>
            <a:ext cx="489204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📱 Digital &amp; Social Inclusion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100% 2G Feature Phone Accessible: Zero smartphone or 4G data barrier for farmers.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Multilingual Parity: Voice and SMS interfaces in Tamil, Hindi, Marathi &amp; English.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Kisan Crop Doctor: AI plant pathology guidance for smallholder pest management.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Empowering Women Farmers &amp; Self-Help Groups (SHGs) with direct market access.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64E3B"/>
                </a:solidFill>
                <a:latin typeface="Arial"/>
              </a:defRPr>
            </a:pPr>
            <a:r>
              <a:t>RESEARCH BENCHMARKS, DATA SOURCES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489204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1. Government Agricultural Data Sources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Agmarknet (Directorate of Marketing &amp; Inspection, Ministry of Agriculture): Daily APMC mandi modal price datasets across 3,000+ wholesale markets.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Commission for Agricultural Costs &amp; Prices (CACP): Price Policy Reports &amp; MSP baseline price calculation formulas for Kharif/Rabi seasons.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e-NAM (National Agriculture Market): Interoperability standards &amp; digital trade guidelines.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669280" y="1051560"/>
            <a:ext cx="489204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2. Post-Harvest &amp; Intermediary Studies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ICAR-CIPHET (2022) Assessment of Post-Harvest Losses: Quantifying 15-30% perishable food spoilage due to 5-tier mandi delays.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NITI Aayog Strategy for Agricultural Marketing (2020): Highlighting 75-85% consumer price markups extracted by commission agents &amp; middlemen.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NABARD Rural Inclusion Survey: Documenting 55%+ 2G feature phone reliance among smallholder farmers.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291840"/>
            <a:ext cx="489204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3. Algorithmic &amp; Engineering Foundations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Lin, S. &amp; Kernighan, B. (1973): 'An Effective Heuristic Algorithm for the Traveling Salesman Problem' — Foundation for our 2-Opt Route Optimizer.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Breiman, L. (2001): 'Random Forests' (Machine Learning) — Used for our 6-month demand regressor factoring rainfall and festive seasonality.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OpenStreetMap &amp; OSRM Geocoding API: Open-source geospatial routing &amp; distance matrix.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669280" y="3291840"/>
            <a:ext cx="489204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00">
                <a:solidFill>
                  <a:srgbClr val="064E3B"/>
                </a:solidFill>
                <a:latin typeface="Calibri"/>
              </a:defRPr>
            </a:pPr>
            <a:r>
              <a:t>4. Policy &amp; National Mission Alignment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Digital Agriculture Mission (DAM 2024-25): Promoting inclusive AI &amp; open digital public infrastructure.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PM Kisan Sampada Yojana: Supporting integrated cold chain &amp; direct farm-gate preservation.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• Atmanirbhar Bharat Agri-Logistics: Empowering rural transport drivers &amp; FPO self-reliance.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7667</TotalTime>
  <Words>371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Monish P</cp:lastModifiedBy>
  <cp:revision>153</cp:revision>
  <dcterms:created xsi:type="dcterms:W3CDTF">2013-12-12T18:46:50Z</dcterms:created>
  <dcterms:modified xsi:type="dcterms:W3CDTF">2026-08-30T14:22:10Z</dcterms:modified>
  <cp:category/>
</cp:coreProperties>
</file>