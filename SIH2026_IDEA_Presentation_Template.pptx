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b="1" sz="2200">
                <a:solidFill>
                  <a:srgbClr val="EA580C"/>
                </a:solidFill>
                <a:latin typeface="Calibri"/>
              </a:rPr>
              <a:t>Project Name:</a:t>
            </a:r>
            <a:r>
              <a:rPr b="1" sz="2200">
                <a:solidFill>
                  <a:srgbClr val="EA580C"/>
                </a:solidFill>
                <a:latin typeface="Calibri"/>
              </a:rPr>
              <a:t>  KisanSetu</a:t>
            </a:r>
            <a:endParaRPr lang="en-US" dirty="0"/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4E3B"/>
                </a:solidFill>
                <a:latin typeface="Calibri"/>
              </a:rPr>
              <a:t>Tagline:</a:t>
            </a:r>
            <a:r>
              <a:rPr b="1" sz="1400">
                <a:solidFill>
                  <a:srgbClr val="064E3B"/>
                </a:solidFill>
                <a:latin typeface="Calibri"/>
              </a:rPr>
              <a:t>  2G Voice AI &amp; Direct Farm-to-Consumer Fair Trade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0F172A"/>
                </a:solidFill>
                <a:latin typeface="Calibri"/>
              </a:rPr>
              <a:t>Problem ID:</a:t>
            </a:r>
            <a:r>
              <a:rPr b="1" sz="1500">
                <a:solidFill>
                  <a:srgbClr val="0F172A"/>
                </a:solidFill>
                <a:latin typeface="Calibri"/>
              </a:rPr>
              <a:t>  26033</a:t>
            </a:r>
          </a:p>
          <a:p>
            <a:pPr>
              <a:spcAft>
                <a:spcPts val="600"/>
              </a:spcAft>
            </a:pPr>
            <a:r>
              <a:rPr b="1" sz="1350">
                <a:solidFill>
                  <a:srgbClr val="1E293B"/>
                </a:solidFill>
                <a:latin typeface="Calibri"/>
              </a:rPr>
              <a:t>Problem:</a:t>
            </a:r>
            <a:r>
              <a:rPr b="0" sz="1350">
                <a:solidFill>
                  <a:srgbClr val="1E293B"/>
                </a:solidFill>
                <a:latin typeface="Calibri"/>
              </a:rPr>
              <a:t>  "Middlemen reduce farmers' earnings &amp; hike consumer prices"</a:t>
            </a:r>
          </a:p>
          <a:p>
            <a:pPr>
              <a:spcAft>
                <a:spcPts val="600"/>
              </a:spcAft>
            </a:pPr>
            <a:r>
              <a:rPr b="1" sz="1350">
                <a:solidFill>
                  <a:srgbClr val="0F172A"/>
                </a:solidFill>
                <a:latin typeface="Calibri"/>
              </a:rPr>
              <a:t>Theme:</a:t>
            </a:r>
            <a:r>
              <a:rPr b="1" sz="1350">
                <a:solidFill>
                  <a:srgbClr val="0F172A"/>
                </a:solidFill>
                <a:latin typeface="Calibri"/>
              </a:rPr>
              <a:t>  Agriculture, FoodTech &amp; Rural Development</a:t>
            </a:r>
          </a:p>
          <a:p>
            <a:pPr>
              <a:spcAft>
                <a:spcPts val="600"/>
              </a:spcAft>
            </a:pPr>
            <a:r>
              <a:rPr b="1" sz="1450">
                <a:solidFill>
                  <a:srgbClr val="064E3B"/>
                </a:solidFill>
                <a:latin typeface="Calibri"/>
              </a:rPr>
              <a:t>Category:</a:t>
            </a:r>
            <a:r>
              <a:rPr b="1" sz="1450">
                <a:solidFill>
                  <a:srgbClr val="064E3B"/>
                </a:solidFill>
                <a:latin typeface="Calibri"/>
              </a:rPr>
              <a:t>  Software  |  Team: Team KisanSetu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858000" y="1783080"/>
            <a:ext cx="4663440" cy="1325880"/>
          </a:xfrm>
          <a:prstGeom prst="roundRect">
            <a:avLst/>
          </a:prstGeom>
          <a:solidFill>
            <a:srgbClr val="065F46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3600" b="1">
                <a:solidFill>
                  <a:srgbClr val="DC2626"/>
                </a:solidFill>
                <a:latin typeface="Calibri"/>
              </a:defRPr>
            </a:pPr>
            <a:r>
              <a:t>65%</a:t>
            </a:r>
          </a:p>
          <a:p>
            <a:pPr algn="ctr">
              <a:spcBef>
                <a:spcPts val="200"/>
              </a:spcBef>
              <a:defRPr sz="1300" b="1">
                <a:solidFill>
                  <a:srgbClr val="D1FAE5"/>
                </a:solidFill>
                <a:latin typeface="Calibri"/>
              </a:defRPr>
            </a:pPr>
            <a:r>
              <a:t>Lost to Middlemen Commissions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0" y="3246120"/>
            <a:ext cx="4663440" cy="1325880"/>
          </a:xfrm>
          <a:prstGeom prst="roundRect">
            <a:avLst/>
          </a:prstGeom>
          <a:solidFill>
            <a:srgbClr val="065F46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3600" b="1">
                <a:solidFill>
                  <a:srgbClr val="EA580C"/>
                </a:solidFill>
                <a:latin typeface="Calibri"/>
              </a:defRPr>
            </a:pPr>
            <a:r>
              <a:t>120 Million</a:t>
            </a:r>
          </a:p>
          <a:p>
            <a:pPr algn="ctr">
              <a:spcBef>
                <a:spcPts val="200"/>
              </a:spcBef>
              <a:defRPr sz="1300" b="1">
                <a:solidFill>
                  <a:srgbClr val="D1FAE5"/>
                </a:solidFill>
                <a:latin typeface="Calibri"/>
              </a:defRPr>
            </a:pPr>
            <a:r>
              <a:t>Farmers with Basic 2G Phones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0" y="4709160"/>
            <a:ext cx="4663440" cy="1325880"/>
          </a:xfrm>
          <a:prstGeom prst="roundRect">
            <a:avLst/>
          </a:prstGeom>
          <a:solidFill>
            <a:srgbClr val="065F4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3600" b="1">
                <a:solidFill>
                  <a:srgbClr val="10B981"/>
                </a:solidFill>
                <a:latin typeface="Calibri"/>
              </a:defRPr>
            </a:pPr>
            <a:r>
              <a:t>98%</a:t>
            </a:r>
          </a:p>
          <a:p>
            <a:pPr algn="ctr">
              <a:spcBef>
                <a:spcPts val="200"/>
              </a:spcBef>
              <a:defRPr sz="1300" b="1">
                <a:solidFill>
                  <a:srgbClr val="D1FAE5"/>
                </a:solidFill>
                <a:latin typeface="Calibri"/>
              </a:defRPr>
            </a:pPr>
            <a:r>
              <a:t>Direct Payout to Farmer Bank A/C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2200" b="1">
                <a:solidFill>
                  <a:srgbClr val="064E3B"/>
                </a:solidFill>
              </a:defRPr>
            </a:pPr>
            <a:r>
              <a:t>PROPOSED SOLUTION — HOW KISANSETU WORKS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KisanSetu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457200" y="1188720"/>
            <a:ext cx="3611880" cy="2468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3" name="Rounded Rectangle 15362"/>
          <p:cNvSpPr/>
          <p:nvPr/>
        </p:nvSpPr>
        <p:spPr>
          <a:xfrm>
            <a:off x="548640" y="1280160"/>
            <a:ext cx="3429000" cy="384048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1. 2G Voice AI Helpline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621792" y="1755648"/>
            <a:ext cx="3291840" cy="182880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•  Toll-free IVR for any ₹800 keypad phone (Zero internet/4G needed)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•  Speaks natural Tamil, Hindi &amp; English (Sarvam AI Voice)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•  Instant SMS confirmation with official listing ID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4251960" y="1188720"/>
            <a:ext cx="3611880" cy="2468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Rounded Rectangle 15365"/>
          <p:cNvSpPr/>
          <p:nvPr/>
        </p:nvSpPr>
        <p:spPr>
          <a:xfrm>
            <a:off x="4343400" y="1280160"/>
            <a:ext cx="3429000" cy="38404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2. Direct Freshness Match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4416552" y="1755648"/>
            <a:ext cx="3291840" cy="182880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•  Zero warehouse delays: Produce plucked fresh upon order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•  Tracks harvest date &amp; shelf-life countdown (e.g. 4 days fresh)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•  Pairs nearest consumers &amp; local restaurants (&lt;50 km)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8046720" y="1188720"/>
            <a:ext cx="3611880" cy="2468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Rounded Rectangle 15368"/>
          <p:cNvSpPr/>
          <p:nvPr/>
        </p:nvSpPr>
        <p:spPr>
          <a:xfrm>
            <a:off x="8138160" y="1280160"/>
            <a:ext cx="3429000" cy="38404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3. Fair Price &amp; Direct Delivery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8211312" y="1755648"/>
            <a:ext cx="3291840" cy="182880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•  Live APMC Mandi modal price &amp; Govt MSP floor check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•  2-Opt shared vehicle routing delivers in 24 hours</a:t>
            </a:r>
          </a:p>
          <a:p>
            <a:pPr>
              <a:spcAft>
                <a:spcPts val="600"/>
              </a:spcAft>
              <a:defRPr sz="1250">
                <a:solidFill>
                  <a:srgbClr val="1E293B"/>
                </a:solidFill>
                <a:latin typeface="Calibri"/>
              </a:defRPr>
            </a:pPr>
            <a:r>
              <a:t>•  98% direct payout to farmer bank, 2% platform fee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457200" y="3840480"/>
            <a:ext cx="11247120" cy="2377440"/>
          </a:xfrm>
          <a:prstGeom prst="roundRect">
            <a:avLst/>
          </a:prstGeom>
          <a:solidFill>
            <a:srgbClr val="F2FDF5"/>
          </a:solidFill>
          <a:ln w="228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Rounded Rectangle 15371"/>
          <p:cNvSpPr/>
          <p:nvPr/>
        </p:nvSpPr>
        <p:spPr>
          <a:xfrm>
            <a:off x="3337560" y="3931920"/>
            <a:ext cx="5486400" cy="329184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END-TO-END DIRECT OPERATIONAL FLOW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594360" y="4370832"/>
            <a:ext cx="1874519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4" name="Rounded Rectangle 15373"/>
          <p:cNvSpPr/>
          <p:nvPr/>
        </p:nvSpPr>
        <p:spPr>
          <a:xfrm>
            <a:off x="667512" y="4443984"/>
            <a:ext cx="1728216" cy="347472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1: 2G Call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685800" y="4828032"/>
            <a:ext cx="1691639" cy="118872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ctr">
              <a:defRPr sz="1150">
                <a:solidFill>
                  <a:srgbClr val="1E293B"/>
                </a:solidFill>
                <a:latin typeface="Calibri"/>
              </a:defRPr>
            </a:pPr>
            <a:r>
              <a:t>Farmer dials toll-free &amp;</a:t>
            </a:r>
            <a:br/>
            <a:r>
              <a:t>speaks crop, qty &amp; price</a:t>
            </a:r>
          </a:p>
        </p:txBody>
      </p:sp>
      <p:sp>
        <p:nvSpPr>
          <p:cNvPr id="15376" name="Right Arrow 15375"/>
          <p:cNvSpPr/>
          <p:nvPr/>
        </p:nvSpPr>
        <p:spPr>
          <a:xfrm>
            <a:off x="2514600" y="5084064"/>
            <a:ext cx="256032" cy="256032"/>
          </a:xfrm>
          <a:prstGeom prst="rightArrow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Rounded Rectangle 15376"/>
          <p:cNvSpPr/>
          <p:nvPr/>
        </p:nvSpPr>
        <p:spPr>
          <a:xfrm>
            <a:off x="2825496" y="4370832"/>
            <a:ext cx="1874519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8" name="Rounded Rectangle 15377"/>
          <p:cNvSpPr/>
          <p:nvPr/>
        </p:nvSpPr>
        <p:spPr>
          <a:xfrm>
            <a:off x="2898648" y="4443984"/>
            <a:ext cx="1728216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2: AI Voice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2916936" y="4828032"/>
            <a:ext cx="1691639" cy="118872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ctr">
              <a:defRPr sz="1150">
                <a:solidFill>
                  <a:srgbClr val="1E293B"/>
                </a:solidFill>
                <a:latin typeface="Calibri"/>
              </a:defRPr>
            </a:pPr>
            <a:r>
              <a:t>Sarvam AI extracts data &amp;</a:t>
            </a:r>
            <a:br/>
            <a:r>
              <a:t>calculates freshness days</a:t>
            </a:r>
          </a:p>
        </p:txBody>
      </p:sp>
      <p:sp>
        <p:nvSpPr>
          <p:cNvPr id="15380" name="Right Arrow 15379"/>
          <p:cNvSpPr/>
          <p:nvPr/>
        </p:nvSpPr>
        <p:spPr>
          <a:xfrm>
            <a:off x="4745736" y="5084064"/>
            <a:ext cx="256032" cy="256032"/>
          </a:xfrm>
          <a:prstGeom prst="rightArrow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1" name="Rounded Rectangle 15380"/>
          <p:cNvSpPr/>
          <p:nvPr/>
        </p:nvSpPr>
        <p:spPr>
          <a:xfrm>
            <a:off x="5056632" y="4370832"/>
            <a:ext cx="1874519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2" name="Rounded Rectangle 15381"/>
          <p:cNvSpPr/>
          <p:nvPr/>
        </p:nvSpPr>
        <p:spPr>
          <a:xfrm>
            <a:off x="5129784" y="4443984"/>
            <a:ext cx="1728216" cy="347472"/>
          </a:xfrm>
          <a:prstGeom prst="round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3: Mandi Guard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5148072" y="4828032"/>
            <a:ext cx="1691639" cy="118872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ctr">
              <a:defRPr sz="1150">
                <a:solidFill>
                  <a:srgbClr val="1E293B"/>
                </a:solidFill>
                <a:latin typeface="Calibri"/>
              </a:defRPr>
            </a:pPr>
            <a:r>
              <a:t>APMC price check ensures</a:t>
            </a:r>
            <a:br/>
            <a:r>
              <a:t>no distress underpricing</a:t>
            </a:r>
          </a:p>
        </p:txBody>
      </p:sp>
      <p:sp>
        <p:nvSpPr>
          <p:cNvPr id="15384" name="Right Arrow 15383"/>
          <p:cNvSpPr/>
          <p:nvPr/>
        </p:nvSpPr>
        <p:spPr>
          <a:xfrm>
            <a:off x="6976872" y="5084064"/>
            <a:ext cx="256032" cy="256032"/>
          </a:xfrm>
          <a:prstGeom prst="rightArrow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5" name="Rounded Rectangle 15384"/>
          <p:cNvSpPr/>
          <p:nvPr/>
        </p:nvSpPr>
        <p:spPr>
          <a:xfrm>
            <a:off x="7287768" y="4370832"/>
            <a:ext cx="1874519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6" name="Rounded Rectangle 15385"/>
          <p:cNvSpPr/>
          <p:nvPr/>
        </p:nvSpPr>
        <p:spPr>
          <a:xfrm>
            <a:off x="7360920" y="4443984"/>
            <a:ext cx="1728216" cy="347472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4: Local Match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7379208" y="4828032"/>
            <a:ext cx="1691639" cy="118872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ctr">
              <a:defRPr sz="1150">
                <a:solidFill>
                  <a:srgbClr val="1E293B"/>
                </a:solidFill>
                <a:latin typeface="Calibri"/>
              </a:defRPr>
            </a:pPr>
            <a:r>
              <a:t>Matches nearest consumer</a:t>
            </a:r>
            <a:br/>
            <a:r>
              <a:t>or bulk restaurant order</a:t>
            </a:r>
          </a:p>
        </p:txBody>
      </p:sp>
      <p:sp>
        <p:nvSpPr>
          <p:cNvPr id="15388" name="Right Arrow 15387"/>
          <p:cNvSpPr/>
          <p:nvPr/>
        </p:nvSpPr>
        <p:spPr>
          <a:xfrm>
            <a:off x="9208008" y="5084064"/>
            <a:ext cx="256032" cy="256032"/>
          </a:xfrm>
          <a:prstGeom prst="rightArrow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9" name="Rounded Rectangle 15388"/>
          <p:cNvSpPr/>
          <p:nvPr/>
        </p:nvSpPr>
        <p:spPr>
          <a:xfrm>
            <a:off x="9518904" y="4370832"/>
            <a:ext cx="1874519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0" name="Rounded Rectangle 15389"/>
          <p:cNvSpPr/>
          <p:nvPr/>
        </p:nvSpPr>
        <p:spPr>
          <a:xfrm>
            <a:off x="9592056" y="4443984"/>
            <a:ext cx="1728216" cy="347472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5: Direct Payout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9610344" y="4828032"/>
            <a:ext cx="1691639" cy="118872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ctr">
              <a:defRPr sz="1150">
                <a:solidFill>
                  <a:srgbClr val="1E293B"/>
                </a:solidFill>
                <a:latin typeface="Calibri"/>
              </a:defRPr>
            </a:pPr>
            <a:r>
              <a:t>Farm gate pickup &amp;</a:t>
            </a:r>
            <a:br/>
            <a:r>
              <a:t>98% direct bank transfer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solidFill>
                  <a:srgbClr val="064E3B"/>
                </a:solidFill>
              </a:defRPr>
            </a:pPr>
            <a:r>
              <a:t>TECHNICAL APPROACH &amp; SYSTEM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KisanSetu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88720"/>
            <a:ext cx="6217920" cy="4800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280160"/>
            <a:ext cx="6035040" cy="347472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MODULAR MICROSERVICES ARCHITECTURE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719072"/>
            <a:ext cx="594360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685800" y="1792224"/>
            <a:ext cx="5760720" cy="292608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 Voice &amp; Web Ingestion Layer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77240" y="2121408"/>
            <a:ext cx="5577840" cy="82296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Twilio PSTN Gateway: Toll-free 2G IVR for ₹800 feature phones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Sarvam AI Bulbul/Saaras v3: Voice STT/TTS in Tamil &amp; Hindi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React 18 + Tailwind: Responsive buyer &amp; wholesale portal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94360" y="3090672"/>
            <a:ext cx="594360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685800" y="3163824"/>
            <a:ext cx="5760720" cy="29260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2. Price Guard &amp; Matching Core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77240" y="3493008"/>
            <a:ext cx="5577840" cy="82296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Node.js/Express REST API: JWT auth &amp; role management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APMC Mandi Guard: Real-time price cross-check against MSP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Freshness Matcher: Proximity &amp; shelf-life ranking engine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94360" y="4462272"/>
            <a:ext cx="594360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685800" y="4535424"/>
            <a:ext cx="5760720" cy="29260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3. Route AI &amp; Direct Settlement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777240" y="4864608"/>
            <a:ext cx="5577840" cy="82296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Python Flask: 2-Opt TSP algorithm for shared farm pickup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Leaflet + OSRM Maps: Real road geometry &amp; live driver GPS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T+0 Escrow Engine: Automatic bank payout on delivery POD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858000" y="1188720"/>
            <a:ext cx="4846320" cy="480060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6949440" y="1280160"/>
            <a:ext cx="4663440" cy="347472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DIRECT EXECUTION PIPELINE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7040880" y="1737360"/>
            <a:ext cx="4480560" cy="5029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1. Farmer calls toll-free 2G IVR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7040880" y="2432304"/>
            <a:ext cx="448056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2. Sarvam AI converts speech to listing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7040880" y="3127248"/>
            <a:ext cx="4480560" cy="502920"/>
          </a:xfrm>
          <a:prstGeom prst="round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3. Mandi rates checked to prevent underpricing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7040880" y="3822191"/>
            <a:ext cx="4480560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4. Nearest buyer matched within 50 km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7040880" y="4517136"/>
            <a:ext cx="4480560" cy="50292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5. 2-Opt driver dispatched to farm gate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7040880" y="5212079"/>
            <a:ext cx="4480560" cy="50292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6. 98% money transferred to farmer bank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457200" y="6080760"/>
            <a:ext cx="11247120" cy="27432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1FAE5"/>
                </a:solidFill>
                <a:latin typeface="Calibri"/>
              </a:defRPr>
            </a:pPr>
            <a:r>
              <a:t>Stack: React 18  ·  Node.js Express  ·  Python Flask  ·  Scikit-Learn  ·  Leaflet / OSRM  ·  SQLite  ·  Twilio  ·  Sarvam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solidFill>
                  <a:srgbClr val="064E3B"/>
                </a:solidFill>
              </a:defRPr>
            </a:pPr>
            <a:r>
              <a:t>FEASIBILITY, RISK MITIGATION &amp; ROADMAP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KisanSetu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88720"/>
            <a:ext cx="5486400" cy="4846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280160"/>
            <a:ext cx="5303520" cy="347472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REAL CHALLENGES &amp; PRACTICAL FIXES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719072"/>
            <a:ext cx="521208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685800" y="1792224"/>
            <a:ext cx="5029200" cy="2743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 Noisy Phone Lines / Rural Dialects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49808" y="2103120"/>
            <a:ext cx="4892040" cy="82296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Challenge: Background tractor noise can degrade voice STT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Fix: DTMF keypad menu + Simple SMS fallback (SELL TOMATO 100KG 25)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94360" y="3090672"/>
            <a:ext cx="521208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685800" y="3163824"/>
            <a:ext cx="502920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2. Perishable Crop Spoilage Risk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49808" y="3474720"/>
            <a:ext cx="4892040" cy="82296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Challenge: Fresh vegetables spoil if not sold in 48-72 hours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Fix: Auto-discounting urgency deals for local restaurants &amp; bulk buyers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94360" y="4462272"/>
            <a:ext cx="521208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685800" y="4535424"/>
            <a:ext cx="5029200" cy="2743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3. Fake Listings / Bank Verification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749808" y="4846320"/>
            <a:ext cx="4892040" cy="82296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Challenge: Risk of inaccurate listings or invalid bank accounts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Fix: Driver inspects produce &amp; scans bank passbook at farm gate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126480" y="1188720"/>
            <a:ext cx="5577840" cy="4846320"/>
          </a:xfrm>
          <a:prstGeom prst="roundRect">
            <a:avLst/>
          </a:prstGeom>
          <a:solidFill>
            <a:srgbClr val="F2FDF5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6217920" y="1280160"/>
            <a:ext cx="5394960" cy="347472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PHASED PILOT &amp; SCALE ROADMAP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263640" y="1719072"/>
            <a:ext cx="530352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6355080" y="1792224"/>
            <a:ext cx="512064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1: Working Prototype (DONE ✅)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446520" y="2103120"/>
            <a:ext cx="4983480" cy="82296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End-to-end 2G IVR voice listing tested on real calls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Live APMC price checking, direct marketplace &amp; 2-Opt routing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263640" y="3090672"/>
            <a:ext cx="530352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6355080" y="3163824"/>
            <a:ext cx="5120640" cy="2743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2: District Pilot (Months 1–4)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446520" y="3474720"/>
            <a:ext cx="4983480" cy="82296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500 farmers in Salem / Nashik vegetable clusters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10 shared mini-trucks handling 2,000 monthly orders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263640" y="4462272"/>
            <a:ext cx="530352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6355080" y="4535424"/>
            <a:ext cx="5120640" cy="2743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3: State Federation (Months 5–12)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446520" y="4846320"/>
            <a:ext cx="4983480" cy="82296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50+ FPOs &amp; restaurant wholesale networks across 5 states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 Target ₹10 Crore monthly Gross Merchandise Value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solidFill>
                  <a:srgbClr val="064E3B"/>
                </a:solidFill>
              </a:defRPr>
            </a:pPr>
            <a:r>
              <a:t>QUANTIFIABLE IMPACT &amp; SOCIAL VALUE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KisanSetu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88720"/>
            <a:ext cx="5532120" cy="2331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280160"/>
            <a:ext cx="5349240" cy="38404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💰 1. Direct Farmer Income (+50%)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40080" y="1737360"/>
            <a:ext cx="5166360" cy="169164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98% direct payment (vs 18–25% in traditional mandis)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+45% to +60% net profit increase per crop cycle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Zero distress selling with real-time MSP price floor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Same-day direct bank settlement upon delivery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72200" y="1188720"/>
            <a:ext cx="5532120" cy="2331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6263640" y="1280160"/>
            <a:ext cx="5349240" cy="38404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🛒 2. Consumer Savings (15–20%)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355080" y="1737360"/>
            <a:ext cx="5166360" cy="169164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15–20% cheaper than supermarkets and quick-commerce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Harvest-to-doorstep in 24 hours (Maximum nutrition)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Bulk wholesale discounts (5–15%) for restaurants &amp; hostels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100% price transparency against APMC Mandi rates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57200" y="3675888"/>
            <a:ext cx="5532120" cy="2331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548640" y="3767328"/>
            <a:ext cx="5349240" cy="384048"/>
          </a:xfrm>
          <a:prstGeom prst="round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🌿 3. Food Waste Cut (30% ➔ &lt;8%)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40080" y="4224528"/>
            <a:ext cx="5166360" cy="169164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Cuts transit delay from 5 days to under 24 hours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28–35% fuel savings from shared mini-truck direct routes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Zero empty return truck trips with dynamic dispatch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Significant carbon footprint reduction per tonne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172200" y="3675888"/>
            <a:ext cx="5532120" cy="2331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6263640" y="3767328"/>
            <a:ext cx="5349240" cy="384048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📱 4. 100% Rural Digital Inclusion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355080" y="4224528"/>
            <a:ext cx="5166360" cy="169164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Works on ₹800 keypad phones — Zero internet needed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Full voice parity in Tamil, Hindi &amp; English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AI Crop Doctor: Instant plant diagnosis for smallholders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 Empowers women farmers &amp; Self-Help Groups (SHGs)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solidFill>
                  <a:srgbClr val="064E3B"/>
                </a:solidFill>
              </a:defRPr>
            </a:pPr>
            <a:r>
              <a:t>RESEARCH BENCHMARKS &amp;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KisanSetu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88720"/>
            <a:ext cx="5532120" cy="2331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1280160"/>
            <a:ext cx="5349240" cy="38404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1. Govt Agricultural Data Sources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40080" y="1737360"/>
            <a:ext cx="5166360" cy="169164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Agmarknet (Ministry of Agriculture): Daily APMC mandi modal price datasets across 3,000+ wholesale markets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CACP &amp; e-NAM: Minimum Support Price (MSP) baseline formulas and digital agriculture public infrastructure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72200" y="1188720"/>
            <a:ext cx="5532120" cy="2331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6263640" y="1280160"/>
            <a:ext cx="5349240" cy="38404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2. Post-Harvest &amp; Supply Chain Studies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355080" y="1737360"/>
            <a:ext cx="5166360" cy="169164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ICAR-CIPHET (2022): Assessment of Post-Harvest Losses — 15–30% food spoilage due to 5-tier mandi delays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NITI Aayog (2020): 75–85% price markups extracted by commission agents &amp; middlemen in wholesale chains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57200" y="3675888"/>
            <a:ext cx="5532120" cy="2331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548640" y="3767328"/>
            <a:ext cx="5349240" cy="384048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3. Engineering &amp; Algorithm Foundations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40080" y="4224528"/>
            <a:ext cx="5166360" cy="169164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Lin-Kernighan 2-Opt Algorithm: Proven heuristic for vehicle routing optimization and fuel reduction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OpenStreetMap &amp; OSRM Engine: Real road geometry matrix computation for farm-to-fork logistics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172200" y="3675888"/>
            <a:ext cx="5532120" cy="2331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6263640" y="3767328"/>
            <a:ext cx="5349240" cy="384048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  <a:latin typeface="Calibri"/>
              </a:defRPr>
            </a:pPr>
            <a:r>
              <a:t>4. National Mission Alignment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355080" y="4224528"/>
            <a:ext cx="5166360" cy="1691640"/>
          </a:xfrm>
          <a:prstGeom prst="rect">
            <a:avLst/>
          </a:prstGeom>
          <a:noFill/>
        </p:spPr>
        <p:txBody>
          <a:bodyPr wrap="square" tIns="36576" lIns="36576" rIns="36576" bIns="36576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Digital Agriculture Mission (DAM 2024–25): Promoting inclusive AI tools for smallholder Indian farmers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PM Kisan Sampada Yojana: Supporting farm-gate preservation, cold-chain resilience &amp; direct market access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